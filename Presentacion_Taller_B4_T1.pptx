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217" autoAdjust="0"/>
  </p:normalViewPr>
  <p:slideViewPr>
    <p:cSldViewPr snapToGrid="0" snapToObjects="1">
      <p:cViewPr varScale="1">
        <p:scale>
          <a:sx n="72" d="100"/>
          <a:sy n="72" d="100"/>
        </p:scale>
        <p:origin x="107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BCE61-F832-4C4C-B7A2-8C0C18B273E4}" type="datetimeFigureOut">
              <a:rPr lang="es-ES" smtClean="0"/>
              <a:t>24/06/2026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4F6D42-B0CE-4C52-AD7E-F1BF457074C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6572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Prototipo de red confiable para crédito: capa customizada, FAIR Loss, AutoML e incertidumbre. La red predice y se audita.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F6D42-B0CE-4C52-AD7E-F1BF457074C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1068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Dataset Home Credit. TARGET mide dificultad de pago. CODE_GENDER no entra como predictor, pero se conserva para auditar dependencia.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F6D42-B0CE-4C52-AD7E-F1BF457074C3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3368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DebtBurdenLayer calcula ratios financieros sin escalar y los satura con tanh. El modelo base obtiene AUC test ≈ 0.737.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F6D42-B0CE-4C52-AD7E-F1BF457074C3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2185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FAIR Loss penaliza dependencia respecto a CODE_GENDER. El mejor modelo FAIR seleccionado es CKA RBF con λ=10: mucha menos dependencia y caída moderada de AUC.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F6D42-B0CE-4C52-AD7E-F1BF457074C3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9072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Keras Tuner ajusta arquitectura y λ. Seleccionó un modelo pequeño: 1 capa, 16 unidades, dropout 0 y λ=1, recuperando rendimiento con menor dependencia que el base.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F6D42-B0CE-4C52-AD7E-F1BF457074C3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3491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Base: más AUC y más dependencia. FAIR estricto: mínima dependencia con pérdida de AUC. Tuneado: compromiso intermedio con AUC 0.733 y CKA menor que el base.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F6D42-B0CE-4C52-AD7E-F1BF457074C3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16895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Incertidumbre con modelo auxiliar de error y MC Dropout. En el modelo tuneado el dropout es 0, así que la señal informativa principal es el error estimado.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F6D42-B0CE-4C52-AD7E-F1BF457074C3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89895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 un prototipo auditado, no un sistema final de crédito. Integra restricción financiera, fairness, AutoML e incertidumbre predictiva.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F6D42-B0CE-4C52-AD7E-F1BF457074C3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7570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6519672"/>
            <a:ext cx="8961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800" noProof="0" dirty="0">
                <a:solidFill>
                  <a:srgbClr val="627D98"/>
                </a:solidFill>
              </a:rPr>
              <a:t>Taller B4-T1 · Diseño de Redes Confiables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967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800" noProof="0" dirty="0">
                <a:solidFill>
                  <a:srgbClr val="627D98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59436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lang="es-ES" sz="3400" b="1" noProof="0" dirty="0">
                <a:solidFill>
                  <a:srgbClr val="12324A"/>
                </a:solidFill>
              </a:rPr>
              <a:t>Taller B4-T1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19504"/>
            <a:ext cx="731520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lang="es-ES" sz="2800" b="1" noProof="0" dirty="0">
                <a:solidFill>
                  <a:srgbClr val="1F6F8B"/>
                </a:solidFill>
              </a:rPr>
              <a:t>Diseño de Redes Confiables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20240"/>
            <a:ext cx="8229600" cy="44319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lang="es-ES" sz="2400" b="0" noProof="0" dirty="0">
                <a:solidFill>
                  <a:srgbClr val="627D98"/>
                </a:solidFill>
              </a:rPr>
              <a:t>Justicia e incertidumbre en clasificación de riesgo de crédito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897880"/>
            <a:ext cx="960120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lang="es-ES" sz="1200" b="0" noProof="0" dirty="0">
                <a:solidFill>
                  <a:srgbClr val="243B53"/>
                </a:solidFill>
              </a:rPr>
              <a:t>Equipo: Albert Martin · Josep Pérez Segura · Rodolfo Villena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46120"/>
            <a:ext cx="242316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lang="es-ES" sz="1600" b="1" noProof="0" dirty="0">
                <a:solidFill>
                  <a:srgbClr val="12324A"/>
                </a:solidFill>
              </a:rPr>
              <a:t>Capa </a:t>
            </a:r>
            <a:r>
              <a:rPr lang="es-ES" sz="1600" b="1" noProof="0" dirty="0" err="1">
                <a:solidFill>
                  <a:srgbClr val="12324A"/>
                </a:solidFill>
              </a:rPr>
              <a:t>custom</a:t>
            </a:r>
            <a:endParaRPr lang="es-ES" sz="1600" b="1" noProof="0" dirty="0">
              <a:solidFill>
                <a:srgbClr val="12324A"/>
              </a:solidFill>
            </a:endParaRPr>
          </a:p>
          <a:p>
            <a:pPr algn="ctr">
              <a:spcBef>
                <a:spcPts val="500"/>
              </a:spcBef>
            </a:pPr>
            <a:r>
              <a:rPr lang="es-ES" sz="1600" noProof="0" dirty="0">
                <a:solidFill>
                  <a:srgbClr val="243B53"/>
                </a:solidFill>
              </a:rPr>
              <a:t>Ratio de endeudamiento</a:t>
            </a:r>
          </a:p>
        </p:txBody>
      </p:sp>
      <p:sp>
        <p:nvSpPr>
          <p:cNvPr id="11" name="Oval 10"/>
          <p:cNvSpPr/>
          <p:nvPr/>
        </p:nvSpPr>
        <p:spPr>
          <a:xfrm>
            <a:off x="795528" y="3401568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noProof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246120"/>
            <a:ext cx="242316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lang="es-ES" sz="1600" b="1" noProof="0" dirty="0">
                <a:solidFill>
                  <a:srgbClr val="12324A"/>
                </a:solidFill>
              </a:rPr>
              <a:t>FAIR </a:t>
            </a:r>
            <a:r>
              <a:rPr lang="es-ES" sz="1600" b="1" noProof="0" dirty="0" err="1">
                <a:solidFill>
                  <a:srgbClr val="12324A"/>
                </a:solidFill>
              </a:rPr>
              <a:t>Loss</a:t>
            </a:r>
            <a:endParaRPr lang="es-ES" sz="1600" b="1" noProof="0" dirty="0">
              <a:solidFill>
                <a:srgbClr val="12324A"/>
              </a:solidFill>
            </a:endParaRPr>
          </a:p>
          <a:p>
            <a:pPr algn="ctr">
              <a:spcBef>
                <a:spcPts val="500"/>
              </a:spcBef>
            </a:pPr>
            <a:r>
              <a:rPr lang="es-ES" sz="1600" noProof="0" dirty="0">
                <a:solidFill>
                  <a:srgbClr val="243B53"/>
                </a:solidFill>
              </a:rPr>
              <a:t>Penalización por género</a:t>
            </a:r>
          </a:p>
        </p:txBody>
      </p:sp>
      <p:sp>
        <p:nvSpPr>
          <p:cNvPr id="13" name="Oval 12"/>
          <p:cNvSpPr/>
          <p:nvPr/>
        </p:nvSpPr>
        <p:spPr>
          <a:xfrm>
            <a:off x="3584448" y="3401568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noProof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246120"/>
            <a:ext cx="242316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lang="es-ES" sz="1600" b="1" noProof="0" dirty="0" err="1">
                <a:solidFill>
                  <a:srgbClr val="12324A"/>
                </a:solidFill>
              </a:rPr>
              <a:t>AutoML</a:t>
            </a:r>
            <a:endParaRPr lang="es-ES" sz="1600" b="1" noProof="0" dirty="0">
              <a:solidFill>
                <a:srgbClr val="12324A"/>
              </a:solidFill>
            </a:endParaRPr>
          </a:p>
          <a:p>
            <a:pPr algn="ctr">
              <a:spcBef>
                <a:spcPts val="500"/>
              </a:spcBef>
            </a:pPr>
            <a:r>
              <a:rPr lang="es-ES" sz="1600" noProof="0" dirty="0" err="1">
                <a:solidFill>
                  <a:srgbClr val="243B53"/>
                </a:solidFill>
              </a:rPr>
              <a:t>Keras</a:t>
            </a:r>
            <a:r>
              <a:rPr lang="es-ES" sz="1600" noProof="0" dirty="0">
                <a:solidFill>
                  <a:srgbClr val="243B53"/>
                </a:solidFill>
              </a:rPr>
              <a:t> </a:t>
            </a:r>
            <a:r>
              <a:rPr lang="es-ES" sz="1600" noProof="0" dirty="0" err="1">
                <a:solidFill>
                  <a:srgbClr val="243B53"/>
                </a:solidFill>
              </a:rPr>
              <a:t>Tuner</a:t>
            </a:r>
            <a:endParaRPr lang="es-ES" sz="1600" noProof="0" dirty="0">
              <a:solidFill>
                <a:srgbClr val="243B53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373368" y="3401568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noProof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3246120"/>
            <a:ext cx="242316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lang="es-ES" sz="1600" b="1" noProof="0" dirty="0">
                <a:solidFill>
                  <a:srgbClr val="12324A"/>
                </a:solidFill>
              </a:rPr>
              <a:t>Incertidumbre</a:t>
            </a:r>
          </a:p>
          <a:p>
            <a:pPr algn="ctr">
              <a:spcBef>
                <a:spcPts val="500"/>
              </a:spcBef>
            </a:pPr>
            <a:r>
              <a:rPr lang="es-ES" sz="1600" noProof="0" dirty="0">
                <a:solidFill>
                  <a:srgbClr val="243B53"/>
                </a:solidFill>
              </a:rPr>
              <a:t>Error + MC </a:t>
            </a:r>
            <a:r>
              <a:rPr lang="es-ES" sz="1600" noProof="0" dirty="0" err="1">
                <a:solidFill>
                  <a:srgbClr val="243B53"/>
                </a:solidFill>
              </a:rPr>
              <a:t>Dropout</a:t>
            </a:r>
            <a:endParaRPr lang="es-ES" sz="1600" noProof="0" dirty="0">
              <a:solidFill>
                <a:srgbClr val="243B53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9162287" y="3401568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noProof="0" dirty="0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519672"/>
            <a:ext cx="8961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27D98"/>
                </a:solidFill>
              </a:rPr>
              <a:t>Taller B4-T1 · Diseño de Redes Confiables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967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27D98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0477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rgbClr val="2A9D8F"/>
                </a:solidFill>
              </a:rPr>
              <a:t>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799" y="772215"/>
            <a:ext cx="235833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 dirty="0" err="1">
                <a:solidFill>
                  <a:srgbClr val="12324A"/>
                </a:solidFill>
              </a:rPr>
              <a:t>Objetivo</a:t>
            </a:r>
            <a:r>
              <a:rPr sz="2500" b="1" dirty="0">
                <a:solidFill>
                  <a:srgbClr val="12324A"/>
                </a:solidFill>
              </a:rPr>
              <a:t> y </a:t>
            </a:r>
            <a:r>
              <a:rPr sz="2500" b="1" dirty="0" err="1">
                <a:solidFill>
                  <a:srgbClr val="12324A"/>
                </a:solidFill>
              </a:rPr>
              <a:t>datos</a:t>
            </a:r>
            <a:endParaRPr sz="2500" b="1" dirty="0">
              <a:solidFill>
                <a:srgbClr val="12324A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799" y="1417320"/>
            <a:ext cx="3538249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sz="1600" b="1">
                <a:solidFill>
                  <a:srgbClr val="12324A"/>
                </a:solidFill>
              </a:rPr>
              <a:t>Dataset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243B53"/>
                </a:solidFill>
              </a:rPr>
              <a:t>Home Credit Default Risk
307k solicitudes · 122 variables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799" y="2788920"/>
            <a:ext cx="3538249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sz="1600" b="1">
                <a:solidFill>
                  <a:srgbClr val="12324A"/>
                </a:solidFill>
              </a:rPr>
              <a:t>Target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243B53"/>
                </a:solidFill>
              </a:rPr>
              <a:t>TARGET = 1 → dificultad de pago
TARGET = 0 → buen pagador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799" y="4160520"/>
            <a:ext cx="3538249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sz="1600" b="1">
                <a:solidFill>
                  <a:srgbClr val="12324A"/>
                </a:solidFill>
              </a:rPr>
              <a:t>Variable sensible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243B53"/>
                </a:solidFill>
              </a:rPr>
              <a:t>CODE_GENDER se audita,
no entra como predictor directo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1999" y="1828800"/>
            <a:ext cx="1572555" cy="1143000"/>
          </a:xfrm>
          <a:prstGeom prst="roundRect">
            <a:avLst/>
          </a:prstGeom>
          <a:solidFill>
            <a:srgbClr val="EEF7F6"/>
          </a:solidFill>
          <a:ln w="12700">
            <a:solidFill>
              <a:srgbClr val="B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sz="1600" b="1">
                <a:solidFill>
                  <a:srgbClr val="2A9D8F"/>
                </a:solidFill>
              </a:rPr>
              <a:t>Datos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243B53"/>
                </a:solidFill>
              </a:rPr>
              <a:t>CSV + variables financieras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53328" y="2395728"/>
            <a:ext cx="237744" cy="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55079" y="1828800"/>
            <a:ext cx="1572555" cy="1143000"/>
          </a:xfrm>
          <a:prstGeom prst="roundRect">
            <a:avLst/>
          </a:prstGeom>
          <a:solidFill>
            <a:srgbClr val="EEF7F6"/>
          </a:solidFill>
          <a:ln w="12700">
            <a:solidFill>
              <a:srgbClr val="B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sz="1600" b="1">
                <a:solidFill>
                  <a:srgbClr val="2A9D8F"/>
                </a:solidFill>
              </a:rPr>
              <a:t>Preproceso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243B53"/>
                </a:solidFill>
              </a:rPr>
              <a:t>split + imputación + escalado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36408" y="2395728"/>
            <a:ext cx="237744" cy="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38159" y="1828800"/>
            <a:ext cx="1572555" cy="1143000"/>
          </a:xfrm>
          <a:prstGeom prst="roundRect">
            <a:avLst/>
          </a:prstGeom>
          <a:solidFill>
            <a:srgbClr val="EEF7F6"/>
          </a:solidFill>
          <a:ln w="12700">
            <a:solidFill>
              <a:srgbClr val="B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sz="1600" b="1">
                <a:solidFill>
                  <a:srgbClr val="2A9D8F"/>
                </a:solidFill>
              </a:rPr>
              <a:t>Modelo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243B53"/>
                </a:solidFill>
              </a:rPr>
              <a:t>predicción de riesgo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19488" y="2395728"/>
            <a:ext cx="237744" cy="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921239" y="1828800"/>
            <a:ext cx="1572555" cy="1143000"/>
          </a:xfrm>
          <a:prstGeom prst="roundRect">
            <a:avLst/>
          </a:prstGeom>
          <a:solidFill>
            <a:srgbClr val="EEF7F6"/>
          </a:solidFill>
          <a:ln w="12700">
            <a:solidFill>
              <a:srgbClr val="B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sz="1600" b="1">
                <a:solidFill>
                  <a:srgbClr val="2A9D8F"/>
                </a:solidFill>
              </a:rPr>
              <a:t>Auditoría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243B53"/>
                </a:solidFill>
              </a:rPr>
              <a:t>fairness + incertidumbre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937" y="4485887"/>
            <a:ext cx="2457117" cy="32008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/>
            <a:r>
              <a:rPr sz="1600" b="1" dirty="0">
                <a:solidFill>
                  <a:srgbClr val="12324A"/>
                </a:solidFill>
              </a:rPr>
              <a:t>Idea central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3255" y="4178385"/>
            <a:ext cx="3689185" cy="975652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dirty="0">
                <a:solidFill>
                  <a:srgbClr val="243B53"/>
                </a:solidFill>
              </a:rPr>
              <a:t>• </a:t>
            </a:r>
            <a:r>
              <a:rPr sz="1600" dirty="0" err="1">
                <a:solidFill>
                  <a:srgbClr val="243B53"/>
                </a:solidFill>
              </a:rPr>
              <a:t>Predecir</a:t>
            </a:r>
            <a:r>
              <a:rPr sz="1600" dirty="0">
                <a:solidFill>
                  <a:srgbClr val="243B53"/>
                </a:solidFill>
              </a:rPr>
              <a:t> </a:t>
            </a:r>
            <a:r>
              <a:rPr sz="1600" dirty="0" err="1">
                <a:solidFill>
                  <a:srgbClr val="243B53"/>
                </a:solidFill>
              </a:rPr>
              <a:t>riesgo</a:t>
            </a:r>
            <a:r>
              <a:rPr sz="1600" dirty="0">
                <a:solidFill>
                  <a:srgbClr val="243B53"/>
                </a:solidFill>
              </a:rPr>
              <a:t> de </a:t>
            </a:r>
            <a:r>
              <a:rPr sz="1600" dirty="0" err="1">
                <a:solidFill>
                  <a:srgbClr val="243B53"/>
                </a:solidFill>
              </a:rPr>
              <a:t>impago</a:t>
            </a:r>
            <a:endParaRPr sz="1600" dirty="0">
              <a:solidFill>
                <a:srgbClr val="243B53"/>
              </a:solidFill>
            </a:endParaRPr>
          </a:p>
          <a:p>
            <a:pPr>
              <a:spcAft>
                <a:spcPts val="600"/>
              </a:spcAft>
            </a:pPr>
            <a:r>
              <a:rPr sz="1600" dirty="0">
                <a:solidFill>
                  <a:srgbClr val="243B53"/>
                </a:solidFill>
              </a:rPr>
              <a:t>• </a:t>
            </a:r>
            <a:r>
              <a:rPr sz="1600" dirty="0" err="1">
                <a:solidFill>
                  <a:srgbClr val="243B53"/>
                </a:solidFill>
              </a:rPr>
              <a:t>Reducir</a:t>
            </a:r>
            <a:r>
              <a:rPr sz="1600" dirty="0">
                <a:solidFill>
                  <a:srgbClr val="243B53"/>
                </a:solidFill>
              </a:rPr>
              <a:t> </a:t>
            </a:r>
            <a:r>
              <a:rPr sz="1600" dirty="0" err="1">
                <a:solidFill>
                  <a:srgbClr val="243B53"/>
                </a:solidFill>
              </a:rPr>
              <a:t>dependencia</a:t>
            </a:r>
            <a:r>
              <a:rPr sz="1600" dirty="0">
                <a:solidFill>
                  <a:srgbClr val="243B53"/>
                </a:solidFill>
              </a:rPr>
              <a:t> </a:t>
            </a:r>
            <a:r>
              <a:rPr sz="1600" dirty="0" err="1">
                <a:solidFill>
                  <a:srgbClr val="243B53"/>
                </a:solidFill>
              </a:rPr>
              <a:t>respecto</a:t>
            </a:r>
            <a:r>
              <a:rPr sz="1600" dirty="0">
                <a:solidFill>
                  <a:srgbClr val="243B53"/>
                </a:solidFill>
              </a:rPr>
              <a:t> al </a:t>
            </a:r>
            <a:r>
              <a:rPr sz="1600" dirty="0" err="1">
                <a:solidFill>
                  <a:srgbClr val="243B53"/>
                </a:solidFill>
              </a:rPr>
              <a:t>género</a:t>
            </a:r>
            <a:endParaRPr sz="1600" dirty="0">
              <a:solidFill>
                <a:srgbClr val="243B53"/>
              </a:solidFill>
            </a:endParaRPr>
          </a:p>
          <a:p>
            <a:pPr>
              <a:spcAft>
                <a:spcPts val="600"/>
              </a:spcAft>
            </a:pPr>
            <a:r>
              <a:rPr sz="1600" dirty="0">
                <a:solidFill>
                  <a:srgbClr val="243B53"/>
                </a:solidFill>
              </a:rPr>
              <a:t>• </a:t>
            </a:r>
            <a:r>
              <a:rPr sz="1600" dirty="0" err="1">
                <a:solidFill>
                  <a:srgbClr val="243B53"/>
                </a:solidFill>
              </a:rPr>
              <a:t>Reportar</a:t>
            </a:r>
            <a:r>
              <a:rPr sz="1600" dirty="0">
                <a:solidFill>
                  <a:srgbClr val="243B53"/>
                </a:solidFill>
              </a:rPr>
              <a:t> </a:t>
            </a:r>
            <a:r>
              <a:rPr sz="1600" dirty="0" err="1">
                <a:solidFill>
                  <a:srgbClr val="243B53"/>
                </a:solidFill>
              </a:rPr>
              <a:t>confianza</a:t>
            </a:r>
            <a:r>
              <a:rPr sz="1600" dirty="0">
                <a:solidFill>
                  <a:srgbClr val="243B53"/>
                </a:solidFill>
              </a:rPr>
              <a:t>/</a:t>
            </a:r>
            <a:r>
              <a:rPr sz="1600" dirty="0" err="1">
                <a:solidFill>
                  <a:srgbClr val="243B53"/>
                </a:solidFill>
              </a:rPr>
              <a:t>incertidumbre</a:t>
            </a:r>
            <a:endParaRPr sz="1600" dirty="0">
              <a:solidFill>
                <a:srgbClr val="243B53"/>
              </a:solidFill>
            </a:endParaRPr>
          </a:p>
        </p:txBody>
      </p:sp>
      <p:sp>
        <p:nvSpPr>
          <p:cNvPr id="20" name="Abrir llave 19">
            <a:extLst>
              <a:ext uri="{FF2B5EF4-FFF2-40B4-BE49-F238E27FC236}">
                <a16:creationId xmlns:a16="http://schemas.microsoft.com/office/drawing/2014/main" id="{6165BE1C-B04F-E862-DED8-A390191726A3}"/>
              </a:ext>
            </a:extLst>
          </p:cNvPr>
          <p:cNvSpPr/>
          <p:nvPr/>
        </p:nvSpPr>
        <p:spPr>
          <a:xfrm>
            <a:off x="6380961" y="3909734"/>
            <a:ext cx="373415" cy="147239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519672"/>
            <a:ext cx="8961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27D98"/>
                </a:solidFill>
              </a:rPr>
              <a:t>Taller B4-T1 · Diseño de Redes Confiables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967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27D98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5500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2A9D8F"/>
                </a:solidFill>
              </a:rPr>
              <a:t>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79583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>
                <a:solidFill>
                  <a:srgbClr val="12324A"/>
                </a:solidFill>
              </a:rPr>
              <a:t>Punto 1 · </a:t>
            </a:r>
            <a:r>
              <a:rPr sz="2500" b="1" dirty="0" err="1">
                <a:solidFill>
                  <a:srgbClr val="12324A"/>
                </a:solidFill>
              </a:rPr>
              <a:t>Arquitectura</a:t>
            </a:r>
            <a:r>
              <a:rPr sz="2500" b="1" dirty="0">
                <a:solidFill>
                  <a:srgbClr val="12324A"/>
                </a:solidFill>
              </a:rPr>
              <a:t> </a:t>
            </a:r>
            <a:r>
              <a:rPr sz="2500" b="1" dirty="0" err="1">
                <a:solidFill>
                  <a:srgbClr val="12324A"/>
                </a:solidFill>
              </a:rPr>
              <a:t>customizada</a:t>
            </a:r>
            <a:endParaRPr sz="2500" b="1" dirty="0">
              <a:solidFill>
                <a:srgbClr val="12324A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3108960" cy="350865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/>
            <a:r>
              <a:rPr b="1">
                <a:solidFill>
                  <a:srgbClr val="12324A"/>
                </a:solidFill>
              </a:rPr>
              <a:t>DebtBurdenLayer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3200400" cy="142192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>
                <a:solidFill>
                  <a:srgbClr val="243B53"/>
                </a:solidFill>
              </a:rPr>
              <a:t>• Calcula ratios financieros</a:t>
            </a:r>
          </a:p>
          <a:p>
            <a:pPr algn="ctr">
              <a:spcAft>
                <a:spcPts val="600"/>
              </a:spcAft>
            </a:pPr>
            <a:r>
              <a:rPr>
                <a:solidFill>
                  <a:srgbClr val="243B53"/>
                </a:solidFill>
              </a:rPr>
              <a:t>• Usa importes sin escalar</a:t>
            </a:r>
          </a:p>
          <a:p>
            <a:pPr algn="ctr">
              <a:spcAft>
                <a:spcPts val="600"/>
              </a:spcAft>
            </a:pPr>
            <a:r>
              <a:rPr>
                <a:solidFill>
                  <a:srgbClr val="243B53"/>
                </a:solidFill>
              </a:rPr>
              <a:t>• Saturación suave con tanh</a:t>
            </a:r>
          </a:p>
          <a:p>
            <a:pPr algn="ctr">
              <a:spcAft>
                <a:spcPts val="600"/>
              </a:spcAft>
            </a:pPr>
            <a:r>
              <a:rPr>
                <a:solidFill>
                  <a:srgbClr val="243B53"/>
                </a:solidFill>
              </a:rPr>
              <a:t>• Señal interpretable y estable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417320"/>
            <a:ext cx="20116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b="1" dirty="0">
                <a:solidFill>
                  <a:srgbClr val="12324A"/>
                </a:solidFill>
              </a:rPr>
              <a:t>Scaled features</a:t>
            </a:r>
          </a:p>
          <a:p>
            <a:pPr algn="ctr">
              <a:spcBef>
                <a:spcPts val="500"/>
              </a:spcBef>
            </a:pPr>
            <a:r>
              <a:rPr dirty="0">
                <a:solidFill>
                  <a:srgbClr val="243B53"/>
                </a:solidFill>
              </a:rPr>
              <a:t>7 variables </a:t>
            </a:r>
            <a:r>
              <a:rPr dirty="0" err="1">
                <a:solidFill>
                  <a:srgbClr val="243B53"/>
                </a:solidFill>
              </a:rPr>
              <a:t>escaladas</a:t>
            </a:r>
            <a:endParaRPr dirty="0">
              <a:solidFill>
                <a:srgbClr val="243B53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206240" y="3063240"/>
            <a:ext cx="20116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b="1">
                <a:solidFill>
                  <a:srgbClr val="12324A"/>
                </a:solidFill>
              </a:rPr>
              <a:t>Financial raw</a:t>
            </a:r>
          </a:p>
          <a:p>
            <a:pPr algn="ctr">
              <a:spcBef>
                <a:spcPts val="500"/>
              </a:spcBef>
            </a:pPr>
            <a:r>
              <a:rPr>
                <a:solidFill>
                  <a:srgbClr val="243B53"/>
                </a:solidFill>
              </a:rPr>
              <a:t>income · credit · annuity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063240"/>
            <a:ext cx="2011680" cy="822960"/>
          </a:xfrm>
          <a:prstGeom prst="roundRect">
            <a:avLst/>
          </a:prstGeom>
          <a:solidFill>
            <a:srgbClr val="EEF7F6"/>
          </a:solidFill>
          <a:ln w="12700">
            <a:solidFill>
              <a:srgbClr val="B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b="1" dirty="0" err="1">
                <a:solidFill>
                  <a:srgbClr val="2A9D8F"/>
                </a:solidFill>
              </a:rPr>
              <a:t>DebtBurdenLayer</a:t>
            </a:r>
            <a:endParaRPr b="1" dirty="0">
              <a:solidFill>
                <a:srgbClr val="2A9D8F"/>
              </a:solidFill>
            </a:endParaRPr>
          </a:p>
          <a:p>
            <a:pPr algn="ctr">
              <a:spcBef>
                <a:spcPts val="500"/>
              </a:spcBef>
            </a:pPr>
            <a:r>
              <a:rPr dirty="0">
                <a:solidFill>
                  <a:srgbClr val="243B53"/>
                </a:solidFill>
              </a:rPr>
              <a:t>ratios + tanh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2240280"/>
            <a:ext cx="150876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b="1">
                <a:solidFill>
                  <a:srgbClr val="12324A"/>
                </a:solidFill>
              </a:rPr>
              <a:t>Concat</a:t>
            </a:r>
          </a:p>
          <a:p>
            <a:pPr algn="ctr">
              <a:spcBef>
                <a:spcPts val="500"/>
              </a:spcBef>
            </a:pPr>
            <a:r>
              <a:rPr>
                <a:solidFill>
                  <a:srgbClr val="243B53"/>
                </a:solidFill>
              </a:rPr>
              <a:t>9 señales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52760" y="2240280"/>
            <a:ext cx="1188720" cy="822960"/>
          </a:xfrm>
          <a:prstGeom prst="roundRect">
            <a:avLst/>
          </a:prstGeom>
          <a:solidFill>
            <a:srgbClr val="FFF4ED"/>
          </a:solidFill>
          <a:ln w="12700">
            <a:solidFill>
              <a:srgbClr val="FED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b="1" dirty="0">
                <a:solidFill>
                  <a:srgbClr val="E76F51"/>
                </a:solidFill>
              </a:rPr>
              <a:t>Sigmoid</a:t>
            </a:r>
          </a:p>
          <a:p>
            <a:pPr algn="ctr">
              <a:spcBef>
                <a:spcPts val="500"/>
              </a:spcBef>
            </a:pPr>
            <a:r>
              <a:rPr dirty="0" err="1">
                <a:solidFill>
                  <a:srgbClr val="243B53"/>
                </a:solidFill>
              </a:rPr>
              <a:t>riesgo</a:t>
            </a:r>
            <a:endParaRPr dirty="0">
              <a:solidFill>
                <a:srgbClr val="243B53"/>
              </a:solidFill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6236208" y="1828800"/>
            <a:ext cx="2651760" cy="777240"/>
          </a:xfrm>
          <a:prstGeom prst="line">
            <a:avLst/>
          </a:prstGeom>
          <a:ln w="2540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236208" y="3474720"/>
            <a:ext cx="365760" cy="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522208" y="2651760"/>
            <a:ext cx="365760" cy="82296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442448" y="2651760"/>
            <a:ext cx="182880" cy="0"/>
          </a:xfrm>
          <a:prstGeom prst="line">
            <a:avLst/>
          </a:prstGeom>
          <a:ln w="2540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06240" y="4709160"/>
            <a:ext cx="2029968" cy="350865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/>
            <a:r>
              <a:rPr b="0" dirty="0">
                <a:solidFill>
                  <a:srgbClr val="627D98"/>
                </a:solidFill>
              </a:rPr>
              <a:t>Ratios </a:t>
            </a:r>
            <a:r>
              <a:rPr b="0" dirty="0" err="1">
                <a:solidFill>
                  <a:srgbClr val="627D98"/>
                </a:solidFill>
              </a:rPr>
              <a:t>internos</a:t>
            </a:r>
            <a:r>
              <a:rPr b="0" dirty="0">
                <a:solidFill>
                  <a:srgbClr val="627D98"/>
                </a:solidFill>
              </a:rPr>
              <a:t>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33832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b="1">
                <a:solidFill>
                  <a:srgbClr val="12324A"/>
                </a:solidFill>
              </a:rPr>
              <a:t>Resultado base</a:t>
            </a:r>
          </a:p>
          <a:p>
            <a:pPr algn="ctr">
              <a:spcBef>
                <a:spcPts val="500"/>
              </a:spcBef>
            </a:pPr>
            <a:r>
              <a:rPr>
                <a:solidFill>
                  <a:srgbClr val="243B53"/>
                </a:solidFill>
              </a:rPr>
              <a:t>AUC test ≈ 0.737</a:t>
            </a:r>
          </a:p>
        </p:txBody>
      </p:sp>
      <p:sp>
        <p:nvSpPr>
          <p:cNvPr id="23" name="Abrir llave 22">
            <a:extLst>
              <a:ext uri="{FF2B5EF4-FFF2-40B4-BE49-F238E27FC236}">
                <a16:creationId xmlns:a16="http://schemas.microsoft.com/office/drawing/2014/main" id="{196CAF61-1D83-9EBA-96CE-95D52D969FE7}"/>
              </a:ext>
            </a:extLst>
          </p:cNvPr>
          <p:cNvSpPr/>
          <p:nvPr/>
        </p:nvSpPr>
        <p:spPr>
          <a:xfrm>
            <a:off x="5954233" y="4178595"/>
            <a:ext cx="373415" cy="147239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FD698D8-C38E-A11F-6AE1-5F7BF6A088C7}"/>
              </a:ext>
            </a:extLst>
          </p:cNvPr>
          <p:cNvSpPr txBox="1"/>
          <p:nvPr/>
        </p:nvSpPr>
        <p:spPr>
          <a:xfrm>
            <a:off x="6327648" y="4457192"/>
            <a:ext cx="23378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627D98"/>
                </a:solidFill>
              </a:rPr>
              <a:t>anualidad/ingresos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627D9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627D98"/>
                </a:solidFill>
              </a:rPr>
              <a:t>crédito/ingresos</a:t>
            </a:r>
            <a:endParaRPr lang="es-E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519672"/>
            <a:ext cx="8961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27D98"/>
                </a:solidFill>
              </a:rPr>
              <a:t>Taller B4-T1 · Diseño de Redes Confiables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967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27D98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46990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2A9D8F"/>
                </a:solidFill>
              </a:rPr>
              <a:t>FAIR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47685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>
                <a:solidFill>
                  <a:srgbClr val="12324A"/>
                </a:solidFill>
              </a:rPr>
              <a:t>Punto 2 · </a:t>
            </a:r>
            <a:r>
              <a:rPr sz="2500" b="1" dirty="0" err="1">
                <a:solidFill>
                  <a:srgbClr val="12324A"/>
                </a:solidFill>
              </a:rPr>
              <a:t>Aprendizaje</a:t>
            </a:r>
            <a:r>
              <a:rPr sz="2500" b="1" dirty="0">
                <a:solidFill>
                  <a:srgbClr val="12324A"/>
                </a:solidFill>
              </a:rPr>
              <a:t> </a:t>
            </a:r>
            <a:r>
              <a:rPr sz="2500" b="1" dirty="0" err="1">
                <a:solidFill>
                  <a:srgbClr val="12324A"/>
                </a:solidFill>
              </a:rPr>
              <a:t>justo</a:t>
            </a:r>
            <a:endParaRPr sz="2500" b="1" dirty="0">
              <a:solidFill>
                <a:srgbClr val="12324A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3108960" cy="350865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/>
            <a:r>
              <a:rPr b="1">
                <a:solidFill>
                  <a:srgbClr val="12324A"/>
                </a:solidFill>
              </a:rPr>
              <a:t>Loss customizada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333756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b="1">
                <a:solidFill>
                  <a:srgbClr val="12324A"/>
                </a:solidFill>
              </a:rPr>
              <a:t>BCE + λ · dependencia</a:t>
            </a:r>
          </a:p>
          <a:p>
            <a:pPr algn="ctr">
              <a:spcBef>
                <a:spcPts val="500"/>
              </a:spcBef>
            </a:pPr>
            <a:r>
              <a:rPr>
                <a:solidFill>
                  <a:srgbClr val="243B53"/>
                </a:solidFill>
              </a:rPr>
              <a:t>Pearson² y CKA RBF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54680"/>
            <a:ext cx="3337560" cy="1621982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>
                <a:solidFill>
                  <a:srgbClr val="243B53"/>
                </a:solidFill>
              </a:rPr>
              <a:t>• `CODE_GENDER` no entra al modelo</a:t>
            </a:r>
          </a:p>
          <a:p>
            <a:pPr algn="ctr">
              <a:spcAft>
                <a:spcPts val="600"/>
              </a:spcAft>
            </a:pPr>
            <a:r>
              <a:rPr>
                <a:solidFill>
                  <a:srgbClr val="243B53"/>
                </a:solidFill>
              </a:rPr>
              <a:t>• Se usa para penalizar dependencia</a:t>
            </a:r>
          </a:p>
          <a:p>
            <a:pPr algn="ctr">
              <a:spcAft>
                <a:spcPts val="600"/>
              </a:spcAft>
            </a:pPr>
            <a:r>
              <a:rPr>
                <a:solidFill>
                  <a:srgbClr val="243B53"/>
                </a:solidFill>
              </a:rPr>
              <a:t>• λ controla el trade-off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088741"/>
            <a:ext cx="3337560" cy="685800"/>
          </a:xfrm>
          <a:prstGeom prst="roundRect">
            <a:avLst/>
          </a:prstGeom>
          <a:solidFill>
            <a:srgbClr val="EEF7F6"/>
          </a:solidFill>
          <a:ln w="12700">
            <a:solidFill>
              <a:srgbClr val="B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b="1">
                <a:solidFill>
                  <a:srgbClr val="2A9D8F"/>
                </a:solidFill>
              </a:rPr>
              <a:t>Mejor FAIR</a:t>
            </a:r>
          </a:p>
          <a:p>
            <a:pPr algn="ctr">
              <a:spcBef>
                <a:spcPts val="500"/>
              </a:spcBef>
            </a:pPr>
            <a:r>
              <a:rPr>
                <a:solidFill>
                  <a:srgbClr val="243B53"/>
                </a:solidFill>
              </a:rPr>
              <a:t>CKA RBF · λ =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5806440"/>
            <a:ext cx="6766560" cy="350865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/>
            <a:r>
              <a:rPr b="0">
                <a:solidFill>
                  <a:srgbClr val="627D98"/>
                </a:solidFill>
              </a:rPr>
              <a:t>La curva muestra el coste de reducir dependencia sensible.</a:t>
            </a:r>
          </a:p>
        </p:txBody>
      </p:sp>
      <p:pic>
        <p:nvPicPr>
          <p:cNvPr id="14" name="Picture 13" descr="cell49_out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496520"/>
            <a:ext cx="7178040" cy="39563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519672"/>
            <a:ext cx="8961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27D98"/>
                </a:solidFill>
              </a:rPr>
              <a:t>Taller B4-T1 · Diseño de Redes Confiables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967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27D98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4500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2A9D8F"/>
                </a:solidFill>
              </a:rPr>
              <a:t>OPTIMIZACIÓN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3705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>
                <a:solidFill>
                  <a:srgbClr val="12324A"/>
                </a:solidFill>
              </a:rPr>
              <a:t>Punto 3 · </a:t>
            </a:r>
            <a:r>
              <a:rPr sz="2500" b="1" dirty="0" err="1">
                <a:solidFill>
                  <a:srgbClr val="12324A"/>
                </a:solidFill>
              </a:rPr>
              <a:t>AutoML</a:t>
            </a:r>
            <a:r>
              <a:rPr sz="2500" b="1" dirty="0">
                <a:solidFill>
                  <a:srgbClr val="12324A"/>
                </a:solidFill>
              </a:rPr>
              <a:t> con </a:t>
            </a:r>
            <a:r>
              <a:rPr sz="2500" b="1" dirty="0" err="1">
                <a:solidFill>
                  <a:srgbClr val="12324A"/>
                </a:solidFill>
              </a:rPr>
              <a:t>Keras</a:t>
            </a:r>
            <a:r>
              <a:rPr sz="2500" b="1" dirty="0">
                <a:solidFill>
                  <a:srgbClr val="12324A"/>
                </a:solidFill>
              </a:rPr>
              <a:t> Tuner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3291840" cy="350865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/>
            <a:r>
              <a:rPr b="1">
                <a:solidFill>
                  <a:srgbClr val="12324A"/>
                </a:solidFill>
              </a:rPr>
              <a:t>Hyperband explora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2926080" cy="1775871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>
                <a:solidFill>
                  <a:srgbClr val="243B53"/>
                </a:solidFill>
              </a:rPr>
              <a:t>• número de capas</a:t>
            </a:r>
          </a:p>
          <a:p>
            <a:pPr algn="ctr">
              <a:spcAft>
                <a:spcPts val="600"/>
              </a:spcAft>
            </a:pPr>
            <a:r>
              <a:rPr>
                <a:solidFill>
                  <a:srgbClr val="243B53"/>
                </a:solidFill>
              </a:rPr>
              <a:t>• unidades por capa</a:t>
            </a:r>
          </a:p>
          <a:p>
            <a:pPr algn="ctr">
              <a:spcAft>
                <a:spcPts val="600"/>
              </a:spcAft>
            </a:pPr>
            <a:r>
              <a:rPr>
                <a:solidFill>
                  <a:srgbClr val="243B53"/>
                </a:solidFill>
              </a:rPr>
              <a:t>• dropout</a:t>
            </a:r>
          </a:p>
          <a:p>
            <a:pPr algn="ctr">
              <a:spcAft>
                <a:spcPts val="600"/>
              </a:spcAft>
            </a:pPr>
            <a:r>
              <a:rPr>
                <a:solidFill>
                  <a:srgbClr val="243B53"/>
                </a:solidFill>
              </a:rPr>
              <a:t>• learning rate</a:t>
            </a:r>
          </a:p>
          <a:p>
            <a:pPr algn="ctr">
              <a:spcAft>
                <a:spcPts val="600"/>
              </a:spcAft>
            </a:pPr>
            <a:r>
              <a:rPr>
                <a:solidFill>
                  <a:srgbClr val="243B53"/>
                </a:solidFill>
              </a:rPr>
              <a:t>• λ de fairness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03320"/>
            <a:ext cx="34290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b="1">
                <a:solidFill>
                  <a:srgbClr val="12324A"/>
                </a:solidFill>
              </a:rPr>
              <a:t>Mejor configuración</a:t>
            </a:r>
          </a:p>
          <a:p>
            <a:pPr algn="ctr">
              <a:spcBef>
                <a:spcPts val="500"/>
              </a:spcBef>
            </a:pPr>
            <a:r>
              <a:rPr>
                <a:solidFill>
                  <a:srgbClr val="243B53"/>
                </a:solidFill>
              </a:rPr>
              <a:t>1 capa · 16 unidades · λ=1</a:t>
            </a:r>
          </a:p>
          <a:p>
            <a:endParaRPr>
              <a:solidFill>
                <a:srgbClr val="243B53"/>
              </a:solidFill>
            </a:endParaRPr>
          </a:p>
          <a:p>
            <a:endParaRPr>
              <a:solidFill>
                <a:srgbClr val="243B53"/>
              </a:solidFill>
            </a:endParaRPr>
          </a:p>
        </p:txBody>
      </p:sp>
      <p:pic>
        <p:nvPicPr>
          <p:cNvPr id="11" name="Picture 10" descr="cell63_out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327563"/>
            <a:ext cx="7086600" cy="44771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519672"/>
            <a:ext cx="8961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27D98"/>
                </a:solidFill>
              </a:rPr>
              <a:t>Taller B4-T1 · Diseño de Redes Confiables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967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27D98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0935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2A9D8F"/>
                </a:solidFill>
              </a:rPr>
              <a:t>RESULTADOS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47687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 err="1">
                <a:solidFill>
                  <a:srgbClr val="12324A"/>
                </a:solidFill>
              </a:rPr>
              <a:t>Comparativa</a:t>
            </a:r>
            <a:r>
              <a:rPr sz="2500" b="1" dirty="0">
                <a:solidFill>
                  <a:srgbClr val="12324A"/>
                </a:solidFill>
              </a:rPr>
              <a:t> de </a:t>
            </a:r>
            <a:r>
              <a:rPr sz="2500" b="1" dirty="0" err="1">
                <a:solidFill>
                  <a:srgbClr val="12324A"/>
                </a:solidFill>
              </a:rPr>
              <a:t>modelos</a:t>
            </a:r>
            <a:endParaRPr sz="2500" b="1" dirty="0">
              <a:solidFill>
                <a:srgbClr val="12324A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635240" y="1508760"/>
            <a:ext cx="356616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b="1">
                <a:solidFill>
                  <a:srgbClr val="12324A"/>
                </a:solidFill>
              </a:rPr>
              <a:t>Base</a:t>
            </a:r>
          </a:p>
          <a:p>
            <a:pPr algn="ctr">
              <a:spcBef>
                <a:spcPts val="500"/>
              </a:spcBef>
            </a:pPr>
            <a:r>
              <a:rPr>
                <a:solidFill>
                  <a:srgbClr val="243B53"/>
                </a:solidFill>
              </a:rPr>
              <a:t>AUC 0.737 · CKA 0.0110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788920"/>
            <a:ext cx="3566160" cy="960120"/>
          </a:xfrm>
          <a:prstGeom prst="roundRect">
            <a:avLst/>
          </a:prstGeom>
          <a:solidFill>
            <a:srgbClr val="EEF7F6"/>
          </a:solidFill>
          <a:ln w="12700">
            <a:solidFill>
              <a:srgbClr val="B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b="1">
                <a:solidFill>
                  <a:srgbClr val="2A9D8F"/>
                </a:solidFill>
              </a:rPr>
              <a:t>FAIR pre-tuner</a:t>
            </a:r>
          </a:p>
          <a:p>
            <a:pPr algn="ctr">
              <a:spcBef>
                <a:spcPts val="500"/>
              </a:spcBef>
            </a:pPr>
            <a:r>
              <a:rPr>
                <a:solidFill>
                  <a:srgbClr val="243B53"/>
                </a:solidFill>
              </a:rPr>
              <a:t>AUC 0.728 · CKA 0.0003</a:t>
            </a:r>
          </a:p>
          <a:p>
            <a:r>
              <a:t>máxima reducción FAIR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4069080"/>
            <a:ext cx="3566160" cy="960120"/>
          </a:xfrm>
          <a:prstGeom prst="roundRect">
            <a:avLst/>
          </a:prstGeom>
          <a:solidFill>
            <a:srgbClr val="FFF4ED"/>
          </a:solidFill>
          <a:ln w="12700">
            <a:solidFill>
              <a:srgbClr val="FED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b="1">
                <a:solidFill>
                  <a:srgbClr val="E76F51"/>
                </a:solidFill>
              </a:rPr>
              <a:t>FAIR pre-tuner</a:t>
            </a:r>
          </a:p>
          <a:p>
            <a:pPr algn="ctr">
              <a:spcBef>
                <a:spcPts val="500"/>
              </a:spcBef>
            </a:pPr>
            <a:r>
              <a:rPr>
                <a:solidFill>
                  <a:srgbClr val="243B53"/>
                </a:solidFill>
              </a:rPr>
              <a:t>AUC 0.728 · CKA 0.0003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06440"/>
            <a:ext cx="10241280" cy="350865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/>
            <a:r>
              <a:rPr b="0">
                <a:solidFill>
                  <a:srgbClr val="627D98"/>
                </a:solidFill>
              </a:rPr>
              <a:t>El tuner recupera AUC manteniendo menor dependencia que el modelo base.</a:t>
            </a:r>
          </a:p>
        </p:txBody>
      </p:sp>
      <p:pic>
        <p:nvPicPr>
          <p:cNvPr id="13" name="Picture 12" descr="model_comparison_chart_actualiz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64907"/>
            <a:ext cx="6537960" cy="26196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16958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519672"/>
            <a:ext cx="8961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27D98"/>
                </a:solidFill>
              </a:rPr>
              <a:t>Taller B4-T1 · Diseño de Redes Confiables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967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27D98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7090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2A9D8F"/>
                </a:solidFill>
              </a:rPr>
              <a:t>INCERTIDUMBRE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4768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324A"/>
                </a:solidFill>
              </a:rPr>
              <a:t>Punto 4 · Incertidumbre predictiva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3108960" cy="350865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/>
            <a:r>
              <a:rPr b="1">
                <a:solidFill>
                  <a:srgbClr val="12324A"/>
                </a:solidFill>
              </a:rPr>
              <a:t>Dos estimadores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329184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b="1">
                <a:solidFill>
                  <a:srgbClr val="12324A"/>
                </a:solidFill>
              </a:rPr>
              <a:t>Modelo auxiliar</a:t>
            </a:r>
          </a:p>
          <a:p>
            <a:pPr algn="ctr">
              <a:spcBef>
                <a:spcPts val="500"/>
              </a:spcBef>
            </a:pPr>
            <a:r>
              <a:rPr>
                <a:solidFill>
                  <a:srgbClr val="243B53"/>
                </a:solidFill>
              </a:rPr>
              <a:t>Predice |ŷ − y|
como error esperado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54680"/>
            <a:ext cx="329184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b="1">
                <a:solidFill>
                  <a:srgbClr val="12324A"/>
                </a:solidFill>
              </a:rPr>
              <a:t>MC Dropout</a:t>
            </a:r>
          </a:p>
          <a:p>
            <a:pPr algn="ctr">
              <a:spcBef>
                <a:spcPts val="500"/>
              </a:spcBef>
            </a:pPr>
            <a:r>
              <a:rPr>
                <a:solidFill>
                  <a:srgbClr val="243B53"/>
                </a:solidFill>
              </a:rPr>
              <a:t>PRE útil · POST dropout=0</a:t>
            </a:r>
          </a:p>
          <a:p>
            <a:endParaRPr>
              <a:solidFill>
                <a:srgbClr val="243B53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85800" y="4617720"/>
            <a:ext cx="3291840" cy="868680"/>
          </a:xfrm>
          <a:prstGeom prst="roundRect">
            <a:avLst/>
          </a:prstGeom>
          <a:solidFill>
            <a:srgbClr val="EEF7F6"/>
          </a:solidFill>
          <a:ln w="12700">
            <a:solidFill>
              <a:srgbClr val="B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b="1">
                <a:solidFill>
                  <a:srgbClr val="2A9D8F"/>
                </a:solidFill>
              </a:rPr>
              <a:t>Salida final</a:t>
            </a:r>
          </a:p>
          <a:p>
            <a:pPr algn="ctr">
              <a:spcBef>
                <a:spcPts val="500"/>
              </a:spcBef>
            </a:pPr>
            <a:r>
              <a:rPr>
                <a:solidFill>
                  <a:srgbClr val="243B53"/>
                </a:solidFill>
              </a:rPr>
              <a:t>clase + prob. + error estimado</a:t>
            </a:r>
          </a:p>
          <a:p>
            <a:endParaRPr>
              <a:solidFill>
                <a:srgbClr val="243B53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51960" y="5806440"/>
            <a:ext cx="7757160" cy="350865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/>
            <a:r>
              <a:rPr b="0" dirty="0">
                <a:solidFill>
                  <a:srgbClr val="627D98"/>
                </a:solidFill>
              </a:rPr>
              <a:t>La señal principal final es el modelo auxiliar de error.</a:t>
            </a:r>
          </a:p>
        </p:txBody>
      </p:sp>
      <p:pic>
        <p:nvPicPr>
          <p:cNvPr id="14" name="Picture 13" descr="cell67_out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546220"/>
            <a:ext cx="7269480" cy="18112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6519672"/>
            <a:ext cx="8961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800" noProof="0" dirty="0">
                <a:solidFill>
                  <a:srgbClr val="627D98"/>
                </a:solidFill>
              </a:rPr>
              <a:t>Taller B4-T1 · Diseño de Redes Confiables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967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s-ES" sz="800" noProof="0" dirty="0">
                <a:solidFill>
                  <a:srgbClr val="627D98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22501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2800" b="1" noProof="0" dirty="0">
                <a:solidFill>
                  <a:srgbClr val="2A9D8F"/>
                </a:solidFill>
              </a:rPr>
              <a:t>CIERRE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4768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2500" b="1" noProof="0" dirty="0">
                <a:solidFill>
                  <a:srgbClr val="12324A"/>
                </a:solidFill>
              </a:rPr>
              <a:t>Conclusiones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329184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lang="es-ES" b="1" noProof="0" dirty="0">
                <a:solidFill>
                  <a:srgbClr val="12324A"/>
                </a:solidFill>
              </a:rPr>
              <a:t>1 · Restricción matemática</a:t>
            </a:r>
          </a:p>
          <a:p>
            <a:pPr algn="ctr">
              <a:spcBef>
                <a:spcPts val="500"/>
              </a:spcBef>
            </a:pPr>
            <a:r>
              <a:rPr lang="es-ES" noProof="0" dirty="0">
                <a:solidFill>
                  <a:srgbClr val="243B53"/>
                </a:solidFill>
              </a:rPr>
              <a:t>Ratios financieros explícitos
y controlados con </a:t>
            </a:r>
            <a:r>
              <a:rPr lang="es-ES" noProof="0" dirty="0" err="1">
                <a:solidFill>
                  <a:srgbClr val="243B53"/>
                </a:solidFill>
              </a:rPr>
              <a:t>tanh</a:t>
            </a:r>
            <a:r>
              <a:rPr lang="es-ES" noProof="0" dirty="0">
                <a:solidFill>
                  <a:srgbClr val="243B53"/>
                </a:solidFill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91840" cy="1325880"/>
          </a:xfrm>
          <a:prstGeom prst="roundRect">
            <a:avLst/>
          </a:prstGeom>
          <a:solidFill>
            <a:srgbClr val="EEF7F6"/>
          </a:solidFill>
          <a:ln w="12700">
            <a:solidFill>
              <a:srgbClr val="B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lang="es-ES" b="1" noProof="0" dirty="0">
                <a:solidFill>
                  <a:srgbClr val="2A9D8F"/>
                </a:solidFill>
              </a:rPr>
              <a:t>2 · Justicia</a:t>
            </a:r>
          </a:p>
          <a:p>
            <a:pPr algn="ctr">
              <a:spcBef>
                <a:spcPts val="500"/>
              </a:spcBef>
            </a:pPr>
            <a:r>
              <a:rPr lang="es-ES" noProof="0" dirty="0">
                <a:solidFill>
                  <a:srgbClr val="243B53"/>
                </a:solidFill>
              </a:rPr>
              <a:t>La FAIR </a:t>
            </a:r>
            <a:r>
              <a:rPr lang="es-ES" noProof="0" dirty="0" err="1">
                <a:solidFill>
                  <a:srgbClr val="243B53"/>
                </a:solidFill>
              </a:rPr>
              <a:t>Loss</a:t>
            </a:r>
            <a:r>
              <a:rPr lang="es-ES" noProof="0" dirty="0">
                <a:solidFill>
                  <a:srgbClr val="243B53"/>
                </a:solidFill>
              </a:rPr>
              <a:t> reduce la dependencia respecto a CODE_GENDER.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291840" cy="1325880"/>
          </a:xfrm>
          <a:prstGeom prst="roundRect">
            <a:avLst/>
          </a:prstGeom>
          <a:solidFill>
            <a:srgbClr val="FFF4ED"/>
          </a:solidFill>
          <a:ln w="12700">
            <a:solidFill>
              <a:srgbClr val="FED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lang="es-ES" b="1" noProof="0" dirty="0">
                <a:solidFill>
                  <a:srgbClr val="E76F51"/>
                </a:solidFill>
              </a:rPr>
              <a:t>3 · Incertidumbre</a:t>
            </a:r>
          </a:p>
          <a:p>
            <a:pPr algn="ctr">
              <a:spcBef>
                <a:spcPts val="500"/>
              </a:spcBef>
            </a:pPr>
            <a:r>
              <a:rPr lang="es-ES" noProof="0" dirty="0">
                <a:solidFill>
                  <a:srgbClr val="243B53"/>
                </a:solidFill>
              </a:rPr>
              <a:t>Cada predicción se acompaña
de una señal de confianza.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7584" y="3153742"/>
            <a:ext cx="1296829" cy="3693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lang="es-ES" b="1" noProof="0" dirty="0">
                <a:solidFill>
                  <a:srgbClr val="12324A"/>
                </a:solidFill>
              </a:rPr>
              <a:t>Mensaje final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85296"/>
            <a:ext cx="10607040" cy="118186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/>
            <a:r>
              <a:rPr lang="es-ES" b="0" noProof="0" dirty="0">
                <a:solidFill>
                  <a:srgbClr val="243B53"/>
                </a:solidFill>
              </a:rPr>
              <a:t>No es un sistema final de concesión de crédito:</a:t>
            </a:r>
          </a:p>
          <a:p>
            <a:pPr algn="ctr"/>
            <a:r>
              <a:rPr lang="es-ES" b="0" noProof="0" dirty="0">
                <a:solidFill>
                  <a:srgbClr val="243B53"/>
                </a:solidFill>
              </a:rPr>
              <a:t>es un prototipo auditado</a:t>
            </a:r>
            <a:endParaRPr lang="es-ES" noProof="0" dirty="0">
              <a:solidFill>
                <a:srgbClr val="243B53"/>
              </a:solidFill>
            </a:endParaRPr>
          </a:p>
          <a:p>
            <a:pPr algn="ctr"/>
            <a:r>
              <a:rPr lang="es-ES" b="0" noProof="0" dirty="0">
                <a:solidFill>
                  <a:srgbClr val="243B53"/>
                </a:solidFill>
              </a:rPr>
              <a:t>que integra arquitectura customizada,</a:t>
            </a:r>
          </a:p>
          <a:p>
            <a:pPr algn="ctr"/>
            <a:r>
              <a:rPr lang="es-ES" b="0" noProof="0" dirty="0" err="1">
                <a:solidFill>
                  <a:srgbClr val="243B53"/>
                </a:solidFill>
              </a:rPr>
              <a:t>fairness</a:t>
            </a:r>
            <a:r>
              <a:rPr lang="es-ES" b="0" noProof="0" dirty="0">
                <a:solidFill>
                  <a:srgbClr val="243B53"/>
                </a:solidFill>
              </a:rPr>
              <a:t>, </a:t>
            </a:r>
            <a:r>
              <a:rPr lang="es-ES" b="0" noProof="0" dirty="0" err="1">
                <a:solidFill>
                  <a:srgbClr val="243B53"/>
                </a:solidFill>
              </a:rPr>
              <a:t>AutoML</a:t>
            </a:r>
            <a:r>
              <a:rPr lang="es-ES" b="0" noProof="0" dirty="0">
                <a:solidFill>
                  <a:srgbClr val="243B53"/>
                </a:solidFill>
              </a:rPr>
              <a:t> e incertidumbre.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149351"/>
            <a:ext cx="214884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lang="es-ES" sz="2400" b="1" noProof="0" dirty="0">
                <a:solidFill>
                  <a:srgbClr val="12324A"/>
                </a:solidFill>
              </a:rPr>
              <a:t>Capa </a:t>
            </a:r>
            <a:r>
              <a:rPr lang="es-ES" sz="2400" b="1" noProof="0" dirty="0" err="1">
                <a:solidFill>
                  <a:srgbClr val="12324A"/>
                </a:solidFill>
              </a:rPr>
              <a:t>custom</a:t>
            </a:r>
            <a:endParaRPr lang="es-ES" sz="2400" b="1" noProof="0" dirty="0">
              <a:solidFill>
                <a:srgbClr val="12324A"/>
              </a:solidFill>
            </a:endParaRPr>
          </a:p>
        </p:txBody>
      </p:sp>
      <p:cxnSp>
        <p:nvCxnSpPr>
          <p:cNvPr id="14" name="Connector 13"/>
          <p:cNvCxnSpPr>
            <a:cxnSpLocks/>
            <a:endCxn id="15" idx="1"/>
          </p:cNvCxnSpPr>
          <p:nvPr/>
        </p:nvCxnSpPr>
        <p:spPr>
          <a:xfrm>
            <a:off x="3070685" y="5446531"/>
            <a:ext cx="586915" cy="0"/>
          </a:xfrm>
          <a:prstGeom prst="line">
            <a:avLst/>
          </a:prstGeom>
          <a:ln w="2540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57600" y="5149351"/>
            <a:ext cx="214884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lang="es-ES" sz="2400" b="1" noProof="0" dirty="0">
                <a:solidFill>
                  <a:srgbClr val="12324A"/>
                </a:solidFill>
              </a:rPr>
              <a:t>FAIR </a:t>
            </a:r>
            <a:r>
              <a:rPr lang="es-ES" sz="2400" b="1" noProof="0" dirty="0" err="1">
                <a:solidFill>
                  <a:srgbClr val="12324A"/>
                </a:solidFill>
              </a:rPr>
              <a:t>Loss</a:t>
            </a:r>
            <a:endParaRPr lang="es-ES" sz="2400" b="1" noProof="0" dirty="0">
              <a:solidFill>
                <a:srgbClr val="12324A"/>
              </a:solidFill>
            </a:endParaRPr>
          </a:p>
        </p:txBody>
      </p:sp>
      <p:cxnSp>
        <p:nvCxnSpPr>
          <p:cNvPr id="16" name="Connector 15"/>
          <p:cNvCxnSpPr>
            <a:cxnSpLocks/>
          </p:cNvCxnSpPr>
          <p:nvPr/>
        </p:nvCxnSpPr>
        <p:spPr>
          <a:xfrm>
            <a:off x="5813885" y="5446531"/>
            <a:ext cx="586915" cy="0"/>
          </a:xfrm>
          <a:prstGeom prst="line">
            <a:avLst/>
          </a:prstGeom>
          <a:ln w="2540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0" y="5149351"/>
            <a:ext cx="214884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lang="es-ES" sz="2400" b="1" noProof="0" dirty="0" err="1">
                <a:solidFill>
                  <a:srgbClr val="12324A"/>
                </a:solidFill>
              </a:rPr>
              <a:t>Keras</a:t>
            </a:r>
            <a:r>
              <a:rPr lang="es-ES" sz="2400" b="1" noProof="0" dirty="0">
                <a:solidFill>
                  <a:srgbClr val="12324A"/>
                </a:solidFill>
              </a:rPr>
              <a:t> </a:t>
            </a:r>
            <a:r>
              <a:rPr lang="es-ES" sz="2400" b="1" noProof="0" dirty="0" err="1">
                <a:solidFill>
                  <a:srgbClr val="12324A"/>
                </a:solidFill>
              </a:rPr>
              <a:t>Tuner</a:t>
            </a:r>
            <a:endParaRPr lang="es-ES" sz="2400" b="1" noProof="0" dirty="0">
              <a:solidFill>
                <a:srgbClr val="12324A"/>
              </a:solidFill>
            </a:endParaRPr>
          </a:p>
        </p:txBody>
      </p:sp>
      <p:cxnSp>
        <p:nvCxnSpPr>
          <p:cNvPr id="18" name="Connector 17"/>
          <p:cNvCxnSpPr>
            <a:cxnSpLocks/>
            <a:endCxn id="19" idx="1"/>
          </p:cNvCxnSpPr>
          <p:nvPr/>
        </p:nvCxnSpPr>
        <p:spPr>
          <a:xfrm>
            <a:off x="8557085" y="5446531"/>
            <a:ext cx="586915" cy="0"/>
          </a:xfrm>
          <a:prstGeom prst="line">
            <a:avLst/>
          </a:prstGeom>
          <a:ln w="25400">
            <a:solidFill>
              <a:srgbClr val="627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44000" y="5149351"/>
            <a:ext cx="214884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73152" rtlCol="0" anchor="ctr"/>
          <a:lstStyle/>
          <a:p>
            <a:pPr algn="ctr"/>
            <a:r>
              <a:rPr lang="es-ES" sz="2400" b="1" noProof="0" dirty="0">
                <a:solidFill>
                  <a:srgbClr val="12324A"/>
                </a:solidFill>
              </a:rPr>
              <a:t>Incertidumbre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745</Words>
  <Application>Microsoft Office PowerPoint</Application>
  <PresentationFormat>Panorámica</PresentationFormat>
  <Paragraphs>149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vir villena</dc:creator>
  <cp:keywords/>
  <dc:description>generated using python-pptx</dc:description>
  <cp:lastModifiedBy>rodolfo villena</cp:lastModifiedBy>
  <cp:revision>6</cp:revision>
  <dcterms:created xsi:type="dcterms:W3CDTF">2013-01-27T09:14:16Z</dcterms:created>
  <dcterms:modified xsi:type="dcterms:W3CDTF">2026-06-24T20:40:25Z</dcterms:modified>
  <cp:category/>
</cp:coreProperties>
</file>